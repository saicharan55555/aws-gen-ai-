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Garet Bold" charset="1" panose="0000000000000000000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669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8797" y="203992"/>
            <a:ext cx="17910406" cy="9879016"/>
            <a:chOff x="0" y="0"/>
            <a:chExt cx="4717144" cy="26018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17144" cy="2601881"/>
            </a:xfrm>
            <a:custGeom>
              <a:avLst/>
              <a:gdLst/>
              <a:ahLst/>
              <a:cxnLst/>
              <a:rect r="r" b="b" t="t" l="l"/>
              <a:pathLst>
                <a:path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770186" y="4465681"/>
            <a:ext cx="10747629" cy="1517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881"/>
              </a:lnSpc>
            </a:pPr>
            <a:r>
              <a:rPr lang="en-US" b="true" sz="10608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AWS Gen AI</a:t>
            </a:r>
          </a:p>
        </p:txBody>
      </p:sp>
      <p:grpSp>
        <p:nvGrpSpPr>
          <p:cNvPr name="Group 6" id="6"/>
          <p:cNvGrpSpPr/>
          <p:nvPr/>
        </p:nvGrpSpPr>
        <p:grpSpPr>
          <a:xfrm rot="-2699999">
            <a:off x="15264668" y="-2600781"/>
            <a:ext cx="6841814" cy="6283654"/>
            <a:chOff x="0" y="0"/>
            <a:chExt cx="3397795" cy="3120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97795" cy="3120600"/>
            </a:xfrm>
            <a:custGeom>
              <a:avLst/>
              <a:gdLst/>
              <a:ahLst/>
              <a:cxnLst/>
              <a:rect r="r" b="b" t="t" l="l"/>
              <a:pathLst>
                <a:path h="3120600" w="3397795">
                  <a:moveTo>
                    <a:pt x="0" y="0"/>
                  </a:moveTo>
                  <a:lnTo>
                    <a:pt x="3397795" y="0"/>
                  </a:lnTo>
                  <a:lnTo>
                    <a:pt x="3397795" y="3120600"/>
                  </a:lnTo>
                  <a:lnTo>
                    <a:pt x="0" y="3120600"/>
                  </a:lnTo>
                  <a:close/>
                </a:path>
              </a:pathLst>
            </a:custGeom>
            <a:solidFill>
              <a:srgbClr val="6699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397795" cy="3158700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2699999">
            <a:off x="13549540" y="1832564"/>
            <a:ext cx="3801966" cy="3689633"/>
            <a:chOff x="0" y="0"/>
            <a:chExt cx="1888140" cy="18323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88140" cy="1832352"/>
            </a:xfrm>
            <a:custGeom>
              <a:avLst/>
              <a:gdLst/>
              <a:ahLst/>
              <a:cxnLst/>
              <a:rect r="r" b="b" t="t" l="l"/>
              <a:pathLst>
                <a:path h="1832352" w="1888140">
                  <a:moveTo>
                    <a:pt x="0" y="0"/>
                  </a:moveTo>
                  <a:lnTo>
                    <a:pt x="1888140" y="0"/>
                  </a:lnTo>
                  <a:lnTo>
                    <a:pt x="1888140" y="1832352"/>
                  </a:lnTo>
                  <a:lnTo>
                    <a:pt x="0" y="1832352"/>
                  </a:lnTo>
                  <a:close/>
                </a:path>
              </a:pathLst>
            </a:custGeom>
            <a:solidFill>
              <a:srgbClr val="00006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888140" cy="1870452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2699999">
            <a:off x="11189420" y="88332"/>
            <a:ext cx="2579499" cy="2503285"/>
            <a:chOff x="0" y="0"/>
            <a:chExt cx="1281036" cy="124318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1036" cy="1243186"/>
            </a:xfrm>
            <a:custGeom>
              <a:avLst/>
              <a:gdLst/>
              <a:ahLst/>
              <a:cxnLst/>
              <a:rect r="r" b="b" t="t" l="l"/>
              <a:pathLst>
                <a:path h="1243186" w="1281036">
                  <a:moveTo>
                    <a:pt x="0" y="0"/>
                  </a:moveTo>
                  <a:lnTo>
                    <a:pt x="1281036" y="0"/>
                  </a:lnTo>
                  <a:lnTo>
                    <a:pt x="1281036" y="1243186"/>
                  </a:lnTo>
                  <a:lnTo>
                    <a:pt x="0" y="1243186"/>
                  </a:lnTo>
                  <a:close/>
                </a:path>
              </a:pathLst>
            </a:custGeom>
            <a:solidFill>
              <a:srgbClr val="00006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281036" cy="1281286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69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8797" y="203992"/>
            <a:ext cx="17910406" cy="9879016"/>
            <a:chOff x="0" y="0"/>
            <a:chExt cx="4717144" cy="26018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17144" cy="2601881"/>
            </a:xfrm>
            <a:custGeom>
              <a:avLst/>
              <a:gdLst/>
              <a:ahLst/>
              <a:cxnLst/>
              <a:rect r="r" b="b" t="t" l="l"/>
              <a:pathLst>
                <a:path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739271"/>
            <a:ext cx="16230600" cy="2188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40"/>
              </a:lnSpc>
              <a:spcBef>
                <a:spcPct val="0"/>
              </a:spcBef>
            </a:pPr>
            <a:r>
              <a:rPr lang="en-US" b="true" sz="6000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The Fou</a:t>
            </a:r>
            <a:r>
              <a:rPr lang="en-US" b="true" sz="6000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n</a:t>
            </a:r>
            <a:r>
              <a:rPr lang="en-US" b="true" sz="6000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da</a:t>
            </a:r>
            <a:r>
              <a:rPr lang="en-US" b="true" sz="6000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t</a:t>
            </a:r>
            <a:r>
              <a:rPr lang="en-US" b="true" sz="6000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ion M</a:t>
            </a:r>
            <a:r>
              <a:rPr lang="en-US" b="true" sz="6000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od</a:t>
            </a:r>
            <a:r>
              <a:rPr lang="en-US" b="true" sz="6000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el Lands</a:t>
            </a:r>
            <a:r>
              <a:rPr lang="en-US" b="true" sz="6000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c</a:t>
            </a:r>
            <a:r>
              <a:rPr lang="en-US" b="true" sz="6000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ape – Key Players &amp; Categor</a:t>
            </a:r>
            <a:r>
              <a:rPr lang="en-US" b="true" sz="6000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i</a:t>
            </a:r>
            <a:r>
              <a:rPr lang="en-US" b="true" sz="6000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es</a:t>
            </a:r>
          </a:p>
          <a:p>
            <a:pPr algn="ctr" marL="0" indent="0" lvl="0">
              <a:lnSpc>
                <a:spcPts val="5640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5239819" y="2928116"/>
            <a:ext cx="7045992" cy="6520714"/>
          </a:xfrm>
          <a:custGeom>
            <a:avLst/>
            <a:gdLst/>
            <a:ahLst/>
            <a:cxnLst/>
            <a:rect r="r" b="b" t="t" l="l"/>
            <a:pathLst>
              <a:path h="6520714" w="7045992">
                <a:moveTo>
                  <a:pt x="0" y="0"/>
                </a:moveTo>
                <a:lnTo>
                  <a:pt x="7045992" y="0"/>
                </a:lnTo>
                <a:lnTo>
                  <a:pt x="7045992" y="6520714"/>
                </a:lnTo>
                <a:lnTo>
                  <a:pt x="0" y="65207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8055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69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8797" y="203992"/>
            <a:ext cx="17910406" cy="9879016"/>
            <a:chOff x="0" y="0"/>
            <a:chExt cx="4717144" cy="26018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17144" cy="2601881"/>
            </a:xfrm>
            <a:custGeom>
              <a:avLst/>
              <a:gdLst/>
              <a:ahLst/>
              <a:cxnLst/>
              <a:rect r="r" b="b" t="t" l="l"/>
              <a:pathLst>
                <a:path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181100"/>
            <a:ext cx="16230600" cy="2188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40"/>
              </a:lnSpc>
              <a:spcBef>
                <a:spcPct val="0"/>
              </a:spcBef>
            </a:pPr>
            <a:r>
              <a:rPr lang="en-US" b="true" sz="6000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Cl</a:t>
            </a:r>
            <a:r>
              <a:rPr lang="en-US" b="true" sz="6000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a</a:t>
            </a:r>
            <a:r>
              <a:rPr lang="en-US" b="true" sz="6000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ude (An</a:t>
            </a:r>
            <a:r>
              <a:rPr lang="en-US" b="true" sz="6000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t</a:t>
            </a:r>
            <a:r>
              <a:rPr lang="en-US" b="true" sz="6000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hr</a:t>
            </a:r>
            <a:r>
              <a:rPr lang="en-US" b="true" sz="6000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o</a:t>
            </a:r>
            <a:r>
              <a:rPr lang="en-US" b="true" sz="6000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pic) – Strength</a:t>
            </a:r>
            <a:r>
              <a:rPr lang="en-US" b="true" sz="6000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s </a:t>
            </a:r>
            <a:r>
              <a:rPr lang="en-US" b="true" sz="6000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&amp; I</a:t>
            </a:r>
            <a:r>
              <a:rPr lang="en-US" b="true" sz="6000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de</a:t>
            </a:r>
            <a:r>
              <a:rPr lang="en-US" b="true" sz="6000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al</a:t>
            </a:r>
            <a:r>
              <a:rPr lang="en-US" b="true" sz="6000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b="true" sz="6000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Use Cas</a:t>
            </a:r>
            <a:r>
              <a:rPr lang="en-US" b="true" sz="6000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es</a:t>
            </a:r>
          </a:p>
          <a:p>
            <a:pPr algn="ctr" marL="0" indent="0" lvl="0">
              <a:lnSpc>
                <a:spcPts val="5640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3656544" y="2832814"/>
            <a:ext cx="10974912" cy="5487456"/>
          </a:xfrm>
          <a:custGeom>
            <a:avLst/>
            <a:gdLst/>
            <a:ahLst/>
            <a:cxnLst/>
            <a:rect r="r" b="b" t="t" l="l"/>
            <a:pathLst>
              <a:path h="5487456" w="10974912">
                <a:moveTo>
                  <a:pt x="0" y="0"/>
                </a:moveTo>
                <a:lnTo>
                  <a:pt x="10974912" y="0"/>
                </a:lnTo>
                <a:lnTo>
                  <a:pt x="10974912" y="5487456"/>
                </a:lnTo>
                <a:lnTo>
                  <a:pt x="0" y="54874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69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8797" y="203992"/>
            <a:ext cx="17910406" cy="9879016"/>
            <a:chOff x="0" y="0"/>
            <a:chExt cx="4717144" cy="26018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17144" cy="2601881"/>
            </a:xfrm>
            <a:custGeom>
              <a:avLst/>
              <a:gdLst/>
              <a:ahLst/>
              <a:cxnLst/>
              <a:rect r="r" b="b" t="t" l="l"/>
              <a:pathLst>
                <a:path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487403" y="3026368"/>
            <a:ext cx="11313195" cy="5658538"/>
          </a:xfrm>
          <a:custGeom>
            <a:avLst/>
            <a:gdLst/>
            <a:ahLst/>
            <a:cxnLst/>
            <a:rect r="r" b="b" t="t" l="l"/>
            <a:pathLst>
              <a:path h="5658538" w="11313195">
                <a:moveTo>
                  <a:pt x="0" y="0"/>
                </a:moveTo>
                <a:lnTo>
                  <a:pt x="11313194" y="0"/>
                </a:lnTo>
                <a:lnTo>
                  <a:pt x="11313194" y="5658537"/>
                </a:lnTo>
                <a:lnTo>
                  <a:pt x="0" y="56585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2156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14350" y="837523"/>
            <a:ext cx="17259300" cy="2188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40"/>
              </a:lnSpc>
              <a:spcBef>
                <a:spcPct val="0"/>
              </a:spcBef>
            </a:pPr>
            <a:r>
              <a:rPr lang="en-US" b="true" sz="6000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Amazon Titan – Native AW</a:t>
            </a:r>
            <a:r>
              <a:rPr lang="en-US" b="true" sz="6000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S</a:t>
            </a:r>
            <a:r>
              <a:rPr lang="en-US" b="true" sz="6000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 Integrati</a:t>
            </a:r>
            <a:r>
              <a:rPr lang="en-US" b="true" sz="6000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o</a:t>
            </a:r>
            <a:r>
              <a:rPr lang="en-US" b="true" sz="6000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n &amp; Cost Effi</a:t>
            </a:r>
            <a:r>
              <a:rPr lang="en-US" b="true" sz="6000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ci</a:t>
            </a:r>
            <a:r>
              <a:rPr lang="en-US" b="true" sz="6000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e</a:t>
            </a:r>
            <a:r>
              <a:rPr lang="en-US" b="true" sz="6000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n</a:t>
            </a:r>
            <a:r>
              <a:rPr lang="en-US" b="true" sz="6000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cy</a:t>
            </a:r>
          </a:p>
          <a:p>
            <a:pPr algn="ctr" marL="0" indent="0" lvl="0">
              <a:lnSpc>
                <a:spcPts val="56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669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8797" y="203992"/>
            <a:ext cx="17910406" cy="9879016"/>
            <a:chOff x="0" y="0"/>
            <a:chExt cx="4717144" cy="26018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17144" cy="2601881"/>
            </a:xfrm>
            <a:custGeom>
              <a:avLst/>
              <a:gdLst/>
              <a:ahLst/>
              <a:cxnLst/>
              <a:rect r="r" b="b" t="t" l="l"/>
              <a:pathLst>
                <a:path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019675" y="4640897"/>
            <a:ext cx="12248650" cy="1148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960"/>
              </a:lnSpc>
            </a:pPr>
            <a:r>
              <a:rPr lang="en-US" b="true" sz="8000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Thanks For Watching</a:t>
            </a:r>
          </a:p>
        </p:txBody>
      </p:sp>
      <p:grpSp>
        <p:nvGrpSpPr>
          <p:cNvPr name="Group 6" id="6"/>
          <p:cNvGrpSpPr/>
          <p:nvPr/>
        </p:nvGrpSpPr>
        <p:grpSpPr>
          <a:xfrm rot="-2699999">
            <a:off x="15264668" y="-2600781"/>
            <a:ext cx="6841814" cy="6283654"/>
            <a:chOff x="0" y="0"/>
            <a:chExt cx="3397795" cy="3120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97795" cy="3120600"/>
            </a:xfrm>
            <a:custGeom>
              <a:avLst/>
              <a:gdLst/>
              <a:ahLst/>
              <a:cxnLst/>
              <a:rect r="r" b="b" t="t" l="l"/>
              <a:pathLst>
                <a:path h="3120600" w="3397795">
                  <a:moveTo>
                    <a:pt x="0" y="0"/>
                  </a:moveTo>
                  <a:lnTo>
                    <a:pt x="3397795" y="0"/>
                  </a:lnTo>
                  <a:lnTo>
                    <a:pt x="3397795" y="3120600"/>
                  </a:lnTo>
                  <a:lnTo>
                    <a:pt x="0" y="3120600"/>
                  </a:lnTo>
                  <a:close/>
                </a:path>
              </a:pathLst>
            </a:custGeom>
            <a:solidFill>
              <a:srgbClr val="6699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397795" cy="3158700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2699999">
            <a:off x="11189420" y="88332"/>
            <a:ext cx="2579499" cy="2503285"/>
            <a:chOff x="0" y="0"/>
            <a:chExt cx="1281036" cy="124318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1036" cy="1243186"/>
            </a:xfrm>
            <a:custGeom>
              <a:avLst/>
              <a:gdLst/>
              <a:ahLst/>
              <a:cxnLst/>
              <a:rect r="r" b="b" t="t" l="l"/>
              <a:pathLst>
                <a:path h="1243186" w="1281036">
                  <a:moveTo>
                    <a:pt x="0" y="0"/>
                  </a:moveTo>
                  <a:lnTo>
                    <a:pt x="1281036" y="0"/>
                  </a:lnTo>
                  <a:lnTo>
                    <a:pt x="1281036" y="1243186"/>
                  </a:lnTo>
                  <a:lnTo>
                    <a:pt x="0" y="1243186"/>
                  </a:lnTo>
                  <a:close/>
                </a:path>
              </a:pathLst>
            </a:custGeom>
            <a:solidFill>
              <a:srgbClr val="00006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81036" cy="1281286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DAHVdK-lytI</dc:identifier>
  <dcterms:modified xsi:type="dcterms:W3CDTF">2011-08-01T06:04:30Z</dcterms:modified>
  <cp:revision>1</cp:revision>
  <dc:title>AWS Gen AI</dc:title>
</cp:coreProperties>
</file>